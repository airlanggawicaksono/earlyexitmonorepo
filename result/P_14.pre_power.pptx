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Gowun Batang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font" Target="fonts/GowunBatang-regular.fntdata"/><Relationship Id="rId28" Type="http://schemas.openxmlformats.org/officeDocument/2006/relationships/font" Target="fonts/GowunBatang-bold.fntdata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e7e7b2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e7e7b2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e7e7b2406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e7e7b2406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60bbfd9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60bbfd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11765e5b4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11765e5b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ca93ad6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ca93ad6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e9a8d74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e9a8d74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ca93ad660_6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ca93ad660_6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ca93ad660_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ca93ad660_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ca93ad660_6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eca93ad660_6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9a8d74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e9a8d74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a93ad660_6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ca93ad660_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ca93ad660_6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ca93ad660_6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ca93ad660_6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ca93ad660_6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ca93ad660_6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eca93ad660_6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ca93ad660_6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eca93ad660_6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ca93ad660_6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eca93ad660_6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e9a8d74a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e9a8d74a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83d4d758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83d4d758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ca93ad660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ca93ad660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60bbfd9e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60bbfd9e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Terus sampaikan di meeting kalau Kita aim untuk submit ke Asplos, deadline Augustus.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336cba11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336cba11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Terus sampaikan di meeting kalau Kita aim untuk submit ke Asplos, deadline Augustus.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ntip.in/DriveEarlyExi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intip.in/DriveEarlyEx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0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Update 8</a:t>
            </a:r>
            <a:r>
              <a:rPr lang="en"/>
              <a:t>/11</a:t>
            </a:r>
            <a:r>
              <a:rPr lang="en"/>
              <a:t>/2026</a:t>
            </a:r>
            <a:endParaRPr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62" name="Google Shape;362;p51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week's plans</a:t>
            </a:r>
            <a:endParaRPr/>
          </a:p>
        </p:txBody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Profile the per-exit inference cost of a single model on both the training device and the target edge device. Then, estimate the translation gap between the two device profiles for hw.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Smaller subtasks: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Train and Run the models on a100 (Done )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Run the models on JetsonOrin  (Done, all 4 models incl. Llama)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Drive link 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intip.in/DriveEarlyExit</a:t>
            </a:r>
            <a:r>
              <a:rPr lang="en" sz="1600"/>
              <a:t>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70" name="Google Shape;370;p52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been done</a:t>
            </a:r>
            <a:endParaRPr/>
          </a:p>
        </p:txBody>
      </p:sp>
      <p:sp>
        <p:nvSpPr>
          <p:cNvPr id="371" name="Google Shape;371;p52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Run the models on A100 for benchmarking and using Lens Probing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For Training i implement 3 methods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Cascading (SEGD)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Pairwise Training (our method)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Benchmarking on Jetson and A100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Translation Table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Result of this experiment is on 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http://intip.in/DriveEarlyExit</a:t>
            </a:r>
            <a:r>
              <a:rPr lang="en" sz="1600"/>
              <a:t>  under </a:t>
            </a:r>
            <a:r>
              <a:rPr b="1" lang="en" sz="1600"/>
              <a:t>Artifact folder </a:t>
            </a:r>
            <a:endParaRPr b="1"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hardware used in this experiment is an NVIDIA GeForce A100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118125" y="758100"/>
            <a:ext cx="8686800" cy="4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Protocol: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SeGD </a:t>
            </a:r>
            <a:r>
              <a:rPr lang="en" sz="1500"/>
              <a:t>LoRaExit (Liu, 2024):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put a fresh head on each layer , we freeze the weights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Train deepest exit first on labels quality loss, then walk  downward each shallow exit learns from the exit </a:t>
            </a:r>
            <a:r>
              <a:rPr b="1" lang="en" sz="1500"/>
              <a:t>immediately above it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For each stages it the loss is the KL-divergence of logits + quality loss on labels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Pairwise LoRaExit: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 sameway for SeGD but we use The deepest layer as a teacher and add feature hint loss.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79" name="Google Shape;379;p53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Result of Training of the model using 4 generalizable methods</a:t>
            </a:r>
            <a:endParaRPr sz="2000"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50" y="2465625"/>
            <a:ext cx="2379250" cy="38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925" y="3675213"/>
            <a:ext cx="3619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1447" y="3568760"/>
            <a:ext cx="3485950" cy="6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721" y="4276121"/>
            <a:ext cx="2331464" cy="4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Protocol: 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apply all of the early exit after the transformer every blocks (11)</a:t>
            </a:r>
            <a:endParaRPr sz="14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use the simplest  method that is using Lens only early exit (No training only Applying exit head on the exit by copying the trained FC to the early exit head)</a:t>
            </a:r>
            <a:br>
              <a:rPr lang="en" sz="1400"/>
            </a:b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measure Hardware Energy Profile, Energy and Memory profile</a:t>
            </a:r>
            <a:endParaRPr sz="14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The model we ran are (</a:t>
            </a:r>
            <a:r>
              <a:rPr lang="en" sz="1400"/>
              <a:t>LlaMa 3.2 1B</a:t>
            </a:r>
            <a:r>
              <a:rPr lang="en" sz="1400"/>
              <a:t>, Bert-Large, Yolo v9-Gelan M, Google ViT )</a:t>
            </a:r>
            <a:br>
              <a:rPr lang="en" sz="1400"/>
            </a:b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All results are reported as the mean of all of the samples across different tasks </a:t>
            </a:r>
            <a:endParaRPr sz="1400"/>
          </a:p>
        </p:txBody>
      </p:sp>
      <p:sp>
        <p:nvSpPr>
          <p:cNvPr id="389" name="Google Shape;389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5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Result of Inference Hardware and quality profile of Early Exit BERT </a:t>
            </a:r>
            <a:endParaRPr sz="2000"/>
          </a:p>
        </p:txBody>
      </p:sp>
      <p:pic>
        <p:nvPicPr>
          <p:cNvPr descr="{&quot;type&quot;:&quot;$$&quot;,&quot;aid&quot;:null,&quot;backgroundColor&quot;:&quot;#E9EBE8&quot;,&quot;id&quot;:&quot;2&quot;,&quot;backgroundColorModified&quot;:false,&quot;font&quot;:{&quot;family&quot;:&quot;Arial&quot;,&quot;color&quot;:&quot;#133817&quot;,&quot;size&quot;:10},&quot;code&quot;:&quot;$$C_{k\\left(x\\right)}=\\,\\left(T_{k\\left(x\\right)},E_{k\\left(x\\right)},M_{k\\left(x\\right)}\\right)$$&quot;,&quot;ts&quot;:1778581504538,&quot;cs&quot;:&quot;yZCYweC726EF3SE+2U1PfQ==&quot;,&quot;size&quot;:{&quot;width&quot;:183.66666666666666,&quot;height&quot;:18.833333333333332}}" id="392" name="Google Shape;3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075" y="2149800"/>
            <a:ext cx="1749425" cy="17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98" name="Google Shape;398;p55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A100 Result of Lens probing- BERT Averaged over 7 data (Quality ACC)</a:t>
            </a:r>
            <a:endParaRPr sz="3500"/>
          </a:p>
        </p:txBody>
      </p:sp>
      <p:pic>
        <p:nvPicPr>
          <p:cNvPr id="399" name="Google Shape;39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50" y="662300"/>
            <a:ext cx="7548901" cy="424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06" name="Google Shape;406;p56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BERT - Memory: GPU mem + System RAM  (A100 vs Jetson MAXN/25W/15W)</a:t>
            </a:r>
          </a:p>
        </p:txBody>
      </p:sp>
      <p:sp>
        <p:nvSpPr>
          <p:cNvPr id="407" name="Google Shape;407;p56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08" name="Picture 407" descr="gpu_m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4114800" cy="2560320"/>
          </a:xfrm>
          <a:prstGeom prst="rect">
            <a:avLst/>
          </a:prstGeom>
        </p:spPr>
      </p:pic>
      <p:pic>
        <p:nvPicPr>
          <p:cNvPr id="409" name="Picture 408" descr="system_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7160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15" name="Google Shape;415;p57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BERT - Latency  (A100 vs Jetson MAXN / 25W / 15W)</a:t>
            </a:r>
          </a:p>
        </p:txBody>
      </p:sp>
      <p:sp>
        <p:nvSpPr>
          <p:cNvPr id="416" name="Google Shape;416;p57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17" name="Picture 416" descr="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24" name="Google Shape;424;p58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BERT - Energy  (A100 vs Jetson MAXN / 25W / 15W)</a:t>
            </a:r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26" name="Picture 425" descr="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5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33" name="Google Shape;433;p59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ViT Averaged over 7 data (Quality)</a:t>
            </a:r>
            <a:endParaRPr/>
          </a:p>
        </p:txBody>
      </p:sp>
      <p:sp>
        <p:nvSpPr>
          <p:cNvPr id="434" name="Google Shape;434;p59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35" name="Google Shape;43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425" y="791797"/>
            <a:ext cx="6587751" cy="37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6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42" name="Google Shape;442;p60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ViT - Memory: GPU mem + System RAM  (A100 vs Jetson MAXN/25W/15W)</a:t>
            </a:r>
          </a:p>
        </p:txBody>
      </p:sp>
      <p:sp>
        <p:nvSpPr>
          <p:cNvPr id="443" name="Google Shape;443;p60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44" name="Picture 443" descr="gpu_m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4114800" cy="2560320"/>
          </a:xfrm>
          <a:prstGeom prst="rect">
            <a:avLst/>
          </a:prstGeom>
        </p:spPr>
      </p:pic>
      <p:pic>
        <p:nvPicPr>
          <p:cNvPr id="445" name="Picture 444" descr="system_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7160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6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51" name="Google Shape;451;p61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ViT - Latency  (A100 vs Jetson MAXN / 25W / 15W)</a:t>
            </a:r>
          </a:p>
        </p:txBody>
      </p:sp>
      <p:sp>
        <p:nvSpPr>
          <p:cNvPr id="452" name="Google Shape;452;p61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53" name="Picture 452" descr="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6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60" name="Google Shape;460;p62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ViT - Energy  (A100 vs Jetson MAXN / 25W / 15W)</a:t>
            </a:r>
          </a:p>
        </p:txBody>
      </p:sp>
      <p:sp>
        <p:nvSpPr>
          <p:cNvPr id="461" name="Google Shape;461;p62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62" name="Picture 461" descr="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6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69" name="Google Shape;469;p63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of Lens probing- YoloV9 Gelan Averaged </a:t>
            </a:r>
            <a:r>
              <a:rPr lang="en" sz="2000"/>
              <a:t>over </a:t>
            </a:r>
            <a:r>
              <a:rPr lang="en" sz="2000"/>
              <a:t>1 data (Quality)</a:t>
            </a:r>
            <a:endParaRPr/>
          </a:p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71" name="Google Shape;47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50" y="1386475"/>
            <a:ext cx="4022699" cy="2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75" y="1386475"/>
            <a:ext cx="3897774" cy="21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6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79" name="Google Shape;479;p64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YOLOv9 - Memory: GPU mem + System RAM  (A100 vs Jetson MAXN/25W/15W)</a:t>
            </a:r>
          </a:p>
        </p:txBody>
      </p:sp>
      <p:pic>
        <p:nvPicPr>
          <p:cNvPr id="480" name="Picture 479" descr="gpu_m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4114800" cy="2560320"/>
          </a:xfrm>
          <a:prstGeom prst="rect">
            <a:avLst/>
          </a:prstGeom>
        </p:spPr>
      </p:pic>
      <p:pic>
        <p:nvPicPr>
          <p:cNvPr id="481" name="Picture 480" descr="system_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7160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6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87" name="Google Shape;487;p65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YOLOv9 - Latency  (A100 vs Jetson MAXN / 25W / 15W)</a:t>
            </a:r>
          </a:p>
        </p:txBody>
      </p:sp>
      <p:sp>
        <p:nvSpPr>
          <p:cNvPr id="488" name="Google Shape;488;p65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89" name="Picture 488" descr="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96" name="Google Shape;496;p66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YOLOv9 - Energy  (A100 vs Jetson MAXN / 25W / 15W)</a:t>
            </a:r>
          </a:p>
        </p:txBody>
      </p:sp>
      <p:sp>
        <p:nvSpPr>
          <p:cNvPr id="497" name="Google Shape;497;p66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98" name="Picture 497" descr="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Llama-3.2-1B - Latency  (A100 vs Jetson MAXN / 25W / 15W)</a:t>
            </a:r>
          </a:p>
        </p:txBody>
      </p:sp>
      <p:pic>
        <p:nvPicPr>
          <p:cNvPr id="3" name="Picture 2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Llama-3.2-1B - Energy  (A100 vs Jetson MAXN / 25W / 15W)</a:t>
            </a:r>
          </a:p>
        </p:txBody>
      </p:sp>
      <p:pic>
        <p:nvPicPr>
          <p:cNvPr id="3" name="Picture 2" descr="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68680"/>
            <a:ext cx="6766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Llama-3.2-1B - Memory: GPU mem + System RAM  (A100 vs Jetson MAXN/25W/15W)</a:t>
            </a:r>
          </a:p>
        </p:txBody>
      </p:sp>
      <p:pic>
        <p:nvPicPr>
          <p:cNvPr id="3" name="Picture 2" descr="gpu_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2560320"/>
          </a:xfrm>
          <a:prstGeom prst="rect">
            <a:avLst/>
          </a:prstGeom>
        </p:spPr>
      </p:pic>
      <p:pic>
        <p:nvPicPr>
          <p:cNvPr id="4" name="Picture 3" descr="system_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160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Cross-device summary - BERT  (Δ% vs A100 baseline)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Cross-device summary - ViT  (Δ% vs A100 baseline)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Cross-device summary - YOLOv9  (Δ% vs A100 baseline)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Cross-device summary - Llama-3.2-1B  (Δ% vs A100 baseline)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6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05" name="Google Shape;505;p67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Conclusion</a:t>
            </a:r>
            <a:endParaRPr/>
          </a:p>
        </p:txBody>
      </p:sp>
      <p:sp>
        <p:nvSpPr>
          <p:cNvPr id="506" name="Google Shape;506;p67"/>
          <p:cNvSpPr txBox="1"/>
          <p:nvPr>
            <p:ph type="title"/>
          </p:nvPr>
        </p:nvSpPr>
        <p:spPr>
          <a:xfrm>
            <a:off x="228600" y="710025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>Profiled per-exit inference cost of 4 early-exit models (BERT, ViT, YOLOv9, Llama-3.2-1B) across 4 operating points: A100 and Jetson Orin Nano at MAXN, 25W and 15W.</a:t>
            </a:r>
            <a:endParaRPr sz="1600"/>
          </a:p>
          <a:p>
            <a:r>
              <a:t>Jetson draws far less power and energy than the A100 (energy per sample 74 to 82 percent lower) but runs slower.</a:t>
            </a:r>
          </a:p>
          <a:p>
            <a:r>
              <a:t>The latency gap is largest at shallow exits (about 8x) and narrows with depth (about 2.5x at the deepest exit).</a:t>
            </a:r>
          </a:p>
          <a:p>
            <a:r>
              <a:t>Cross-task variance grows with depth on the A100 and stays tight on the Jetson.</a:t>
            </a:r>
          </a:p>
          <a:p>
            <a:r>
              <a:t>GPU allocated memory is constant across power modes; system RAM is higher on the Jetson due to unified memory.</a:t>
            </a:r>
          </a:p>
          <a:p>
            <a:r>
              <a:t>Power mode (MAXN / 25W / 15W) mainly shifts power and peak throughput; the 15W cap roughly halves attainable power.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None</a:t>
            </a:r>
            <a:endParaRPr/>
          </a:p>
        </p:txBody>
      </p:sp>
      <p:sp>
        <p:nvSpPr>
          <p:cNvPr id="512" name="Google Shape;512;p6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13" name="Google Shape;513;p68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Obstacle </a:t>
            </a:r>
            <a:endParaRPr/>
          </a:p>
        </p:txBody>
      </p:sp>
      <p:sp>
        <p:nvSpPr>
          <p:cNvPr id="514" name="Google Shape;514;p68"/>
          <p:cNvSpPr txBox="1"/>
          <p:nvPr>
            <p:ph type="title"/>
          </p:nvPr>
        </p:nvSpPr>
        <p:spPr>
          <a:xfrm>
            <a:off x="2286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9"/>
          <p:cNvSpPr txBox="1"/>
          <p:nvPr>
            <p:ph type="title"/>
          </p:nvPr>
        </p:nvSpPr>
        <p:spPr>
          <a:xfrm>
            <a:off x="166475" y="7650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Continue training for the 3 methods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Joint Training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Cascade Adaptation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Pairwise training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continue running Hardware Benchmarking on Jetson orin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 run Yolo because of the bugs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Try to start to apply Quantization to the early exitted model that have been trained.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Create a hardware translation table on </a:t>
            </a:r>
            <a:r>
              <a:rPr b="1" lang="en" sz="1600"/>
              <a:t>memory, energy, latency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6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22" name="Google Shape;522;p69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be done next week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0"/>
          <p:cNvSpPr txBox="1"/>
          <p:nvPr>
            <p:ph type="title"/>
          </p:nvPr>
        </p:nvSpPr>
        <p:spPr>
          <a:xfrm>
            <a:off x="191050" y="7568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Zhang, L., Song, J., Gao, A., Chen, J., Bao, C. and Ma, K., 2019. Be your own teacher: Improve the performance of convolutional neural networks via self distillation. In Proceedings of the IEEE/CVF international conference on computer vision (pp. 3713-3722).</a:t>
            </a:r>
            <a:endParaRPr sz="10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Liu, J., Tang, P., Hou, X., Li, C. and Heng, P.A., 2024, November. LoRAExit: empowering dynamic modulation of llms in resource-limited settings using low-rank adapters. In Findings of the Association for Computational Linguistics: EMNLP 2024 (pp. 9211-9225).</a:t>
            </a:r>
            <a:endParaRPr sz="1000"/>
          </a:p>
        </p:txBody>
      </p:sp>
      <p:sp>
        <p:nvSpPr>
          <p:cNvPr id="529" name="Google Shape;529;p7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30" name="Google Shape;530;p70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